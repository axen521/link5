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Ana başlık metnini düzenlemek için tıklayın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90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Anahat metninin biçimini düzenlemek için tıklayın</a:t>
            </a:r>
            <a:endParaRPr b="0" lang="tr-T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tr-TR" sz="2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İkinci Anahat Düzeyi</a:t>
            </a:r>
            <a:endParaRPr b="0" lang="tr-T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Üçüncü Anahat Düzeyi</a:t>
            </a:r>
            <a:endParaRPr b="0" lang="tr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tr-TR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Dördüncü Anahat Düzeyi</a:t>
            </a:r>
            <a:endParaRPr b="0" lang="tr-T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Beşinci Anahat Düzeyi</a:t>
            </a:r>
            <a:endParaRPr b="0" lang="tr-T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Altıncı Anahat Düzeyi</a:t>
            </a:r>
            <a:endParaRPr b="0" lang="tr-T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Yedinci Anahat Düzeyi</a:t>
            </a:r>
            <a:endParaRPr b="0" lang="tr-T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>
              <a:buNone/>
              <a:def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ctr">
              <a:buNone/>
              <a:def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r">
              <a:buNone/>
              <a:def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80E3DAB1-9E7E-4374-A484-9D050CBE5895}" type="slidenum">
              <a: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9540000" y="342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Ana başlık metnini düzenlemek için tıklayın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90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Anahat metninin biçimini düzenlemek için tıklayın</a:t>
            </a:r>
            <a:endParaRPr b="0" lang="tr-T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tr-TR" sz="2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İkinci Anahat Düzeyi</a:t>
            </a:r>
            <a:endParaRPr b="0" lang="tr-T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Üçüncü Anahat Düzeyi</a:t>
            </a:r>
            <a:endParaRPr b="0" lang="tr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tr-TR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Dördüncü Anahat Düzeyi</a:t>
            </a:r>
            <a:endParaRPr b="0" lang="tr-T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Beşinci Anahat Düzeyi</a:t>
            </a:r>
            <a:endParaRPr b="0" lang="tr-T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Altıncı Anahat Düzeyi</a:t>
            </a:r>
            <a:endParaRPr b="0" lang="tr-T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Yedinci Anahat Düzeyi</a:t>
            </a:r>
            <a:endParaRPr b="0" lang="tr-T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4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>
              <a:buNone/>
              <a:def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ctr">
              <a:buNone/>
              <a:def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6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r">
              <a:buNone/>
              <a:def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F2AA147-3C00-40BC-8405-D29094032A8B}" type="slidenum">
              <a: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9540000" y="342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9540000" y="342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Ana başlık metnini düzenlemek için tıklayın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Anahat metninin biçimini düzenlemek için tıklayın</a:t>
            </a:r>
            <a:endParaRPr b="0" lang="tr-T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İkinci Anahat Düzeyi</a:t>
            </a:r>
            <a:endParaRPr b="0" lang="tr-T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Üçüncü Anahat Düzeyi</a:t>
            </a:r>
            <a:endParaRPr b="0" lang="tr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Dördüncü Anahat Düzeyi</a:t>
            </a:r>
            <a:endParaRPr b="0" lang="tr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Beşinci Anahat Düzeyi</a:t>
            </a:r>
            <a:endParaRPr b="0" lang="tr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Altıncı Anahat Düzeyi</a:t>
            </a:r>
            <a:endParaRPr b="0" lang="tr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Yedinci Anahat Düzeyi</a:t>
            </a:r>
            <a:endParaRPr b="0" lang="tr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7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>
              <a:buNone/>
              <a:def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ctr">
              <a:buNone/>
              <a:def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9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r">
              <a:buNone/>
              <a:def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55C06C9E-D80D-4ED3-A8EC-C8FBDAAC6CDD}" type="slidenum">
              <a: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 flipH="1">
            <a:off x="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0" y="1260000"/>
            <a:ext cx="10080000" cy="441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Ana başlık metnini düzenlemek için tıklayın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Anahat metninin biçimini düzenlemek için tıklayın</a:t>
            </a:r>
            <a:endParaRPr b="0" lang="tr-T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İkinci Anahat Düzeyi</a:t>
            </a:r>
            <a:endParaRPr b="0" lang="tr-T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Üçüncü Anahat Düzeyi</a:t>
            </a:r>
            <a:endParaRPr b="0" lang="tr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Dördüncü Anahat Düzeyi</a:t>
            </a:r>
            <a:endParaRPr b="0" lang="tr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Beşinci Anahat Düzeyi</a:t>
            </a:r>
            <a:endParaRPr b="0" lang="tr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Altıncı Anahat Düzeyi</a:t>
            </a:r>
            <a:endParaRPr b="0" lang="tr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Yedinci Anahat Düzeyi</a:t>
            </a:r>
            <a:endParaRPr b="0" lang="tr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10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>
              <a:buNone/>
              <a:defRPr b="0" lang="tr-T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tr-T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11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ctr">
              <a:buNone/>
              <a:defRPr b="0" lang="tr-T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tr-T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12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r">
              <a:buNone/>
              <a:defRPr b="0" lang="tr-T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E0C4EDC2-0117-4CBB-9C3B-7F31C85396D2}" type="slidenum">
              <a:rPr b="0" lang="tr-T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1_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 flipH="1">
            <a:off x="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9540000" y="342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b="1" lang="tr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Ana başlık metnini düzenlemek için tıklayın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Anahat metninin biçimini düzenlemek için tıklayın</a:t>
            </a:r>
            <a:endParaRPr b="0" lang="tr-T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İkinci Anahat Düzeyi</a:t>
            </a:r>
            <a:endParaRPr b="0" lang="tr-T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Üçüncü Anahat Düzeyi</a:t>
            </a:r>
            <a:endParaRPr b="0" lang="tr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Dördüncü Anahat Düzeyi</a:t>
            </a:r>
            <a:endParaRPr b="0" lang="tr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Beşinci Anahat Düzeyi</a:t>
            </a:r>
            <a:endParaRPr b="0" lang="tr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Altıncı Anahat Düzeyi</a:t>
            </a:r>
            <a:endParaRPr b="0" lang="tr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Yedinci Anahat Düzeyi</a:t>
            </a:r>
            <a:endParaRPr b="0" lang="tr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13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>
              <a:buNone/>
              <a:def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ftr" idx="14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ctr">
              <a:buNone/>
              <a:def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15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r">
              <a:buNone/>
              <a:def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2905E816-0C1D-4CB4-AD91-0A8C0C0C846E}" type="slidenum">
              <a:rPr b="0" lang="tr-T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tr-T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127728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tr-T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Temel  İlk Yardım Esasları ve</a:t>
            </a:r>
            <a:br>
              <a:rPr sz="4400"/>
            </a:br>
            <a:r>
              <a:rPr b="0" lang="tr-T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Acil Müdahale Teknikleri</a:t>
            </a:r>
            <a:endParaRPr b="0" lang="tr-T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504000" y="2592000"/>
            <a:ext cx="9071640" cy="202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b="0" lang="tr-TR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Hazırlayanlar:</a:t>
            </a:r>
            <a:endParaRPr b="0" lang="tr-T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tr-TR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-Naim İbrahim Ergun</a:t>
            </a:r>
            <a:br>
              <a:rPr sz="2200"/>
            </a:br>
            <a:r>
              <a:rPr b="0" lang="tr-TR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-Yusuf Yasin Keleş</a:t>
            </a:r>
            <a:endParaRPr b="0" lang="tr-T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İlk Yardım Nedir?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İlk yardım, profesyonel sağlık ekipleri gelene kadar; hayat kurtarmak, durumun kötüleşmesini önlemek ve iyileşmeyi kolaylaştırmak amacıyla yapılan uygulamalardır. 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846F6C-9D20-4BC6-A83D-57F751D822D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İlk Yardımın Amaçları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İyileşmeyi kolaylaştırmak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Yaşamsal fonksiyonların sürdürülmesini sağlamak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Hasta/yaralının durumunun kötüleşmesini engellemek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tr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1424AB-B010-4AA8-9D07-B852185868B0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Temel İlk Yardım Esasları</a:t>
            </a:r>
            <a:endParaRPr b="0" lang="tr-T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İlk yardım üç ana adımda uygulanır: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Koruma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Bildirme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Kurtarma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3B1DF8-404E-43D2-BBE1-20EFED79A0F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Koruma (Olay Yerinin Güvenliği)</a:t>
            </a:r>
            <a:endParaRPr b="0" lang="tr-T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Öncelikle kendi güvenliğimizi sağlarız. Tehlike devam ediyorsa müdahale edilmez.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Trafik kazasında üçgen reflektör koymak, elektrik çarpması durumunda enerjiyi kesmek gibi önlemler alınır.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Olay yerine kalabalık yaklaşması engellenir.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703608-1703-4E32-8AFA-493A9839375E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Bildirme (112 Araması)</a:t>
            </a:r>
            <a:endParaRPr b="0" lang="tr-T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112’ye şu bilgiler net bir şekilde iletilir: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Olay yeri adresi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Yaralı sayısı ve durumu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Tehlikeli durumlar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Arayanın kimlik bilgileri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5F39ED-C681-488E-90E5-3634B52FB58E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Kurtarma (Müdahale)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Profesyonel ekip gelene kadar temel müdahaleler uygulanır: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Bilinç kontrolü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Solunum kontrolü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Kanama durdurma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Pozisyon verme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7EA40E-197E-41E1-A2E2-F5529B734836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Bilinç ve Solunum Kontrolü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“İyi misiniz?” diyerek bilinç kontrolü yapılır.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Tepki yoksa hava yolu açılır.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Solunum 10 saniye gözlemlenir.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EA68FD-9D5D-4118-ABEF-CEC98CB76F98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Temel Yaşam Desteği (TYD)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Eğer solunum yoksa: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30 göğüs basısı (dakikada 100–120 ritim),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Ardından 2 nefes verme,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 döngü 30:2 olarak profesyonel ekip gelene kadar sürdürülür. 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3FF68A-4EB0-44A7-948B-464803994C70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Kanama Kontrolü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Temiz bezle direkt baskı yapılır.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Baskı yeterli değilse bası noktaları kullanılır.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Turnike sadece çok şiddetli kanamalarda uygulanır.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0C97E6-8421-4CA5-964A-FA076C679CAE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Kırık/Çıkık/Burkulma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Bölge hareketsiz bırakılır.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Tahta veya sert bir cisimle sabitlenir.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Burkulmalarda soğuk uygulama yapılabilir.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ED6D41-62D5-46C1-8E00-6075944CDD33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Heimlich Manevrası (Boğulma)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 sırt darbesi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 karın basısı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Cisim çıkana kadar döngü tekrarlanır.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C6E05D-9995-4688-B4D4-98B34AB6F73E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Şok Pozisyonu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Kişinin bacakları yukarı kaldırılır.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Üzeri örtülür.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Hareket ettirilmeden takip edilir.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6C6052-98C0-4042-90D0-79C600A4976B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Yapılmaması Gerekenler</a:t>
            </a:r>
            <a:endParaRPr b="0" lang="tr-TR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Yaralıyı gereksiz hareket ettirmek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Kırıkları düzeltmeye çalışmak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Yaraya merhem veya krem sürmek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Bilinci kapalı kişiye su içirmek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İlâç vermek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102BB6-51B0-4B3D-B114-A7EC1395BFF3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Sonuç</a:t>
            </a:r>
            <a:endParaRPr b="0" lang="tr-T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İlk yardım doğru uygulandığında hayat kurtarır. Amacımız; profesyonel ekipler gelene kadar yaralının güvenliğini ve temel hayati fonksiyonlarını korumaktır. 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r">
              <a:spcBef>
                <a:spcPts val="1191"/>
              </a:spcBef>
              <a:spcAft>
                <a:spcPts val="992"/>
              </a:spcAft>
              <a:buNone/>
            </a:pP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r">
              <a:spcBef>
                <a:spcPts val="1191"/>
              </a:spcBef>
              <a:spcAft>
                <a:spcPts val="992"/>
              </a:spcAft>
              <a:buNone/>
            </a:pP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r">
              <a:spcBef>
                <a:spcPts val="1191"/>
              </a:spcBef>
              <a:spcAft>
                <a:spcPts val="992"/>
              </a:spcAft>
              <a:buNone/>
            </a:pP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tr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Dinlediğiniz İçin Teşekkürler.</a:t>
            </a:r>
            <a:endParaRPr b="0" lang="tr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325AF3-DC73-4FD7-8B4E-1DC46CD7A0C2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2025-11-18T23:16:05Z</dcterms:created>
  <dc:creator/>
  <dc:description>This work is licensed under a Creative Commons 0 License.
It makes use of the works of kka_libo_design@ashisuto.co.jp.</dc:description>
  <dc:language>tr-TR</dc:language>
  <cp:lastModifiedBy/>
  <dcterms:modified xsi:type="dcterms:W3CDTF">2025-11-19T00:00:31Z</dcterms:modified>
  <cp:revision>5</cp:revision>
  <dc:subject/>
  <dc:title>Lights</dc:title>
</cp:coreProperties>
</file>